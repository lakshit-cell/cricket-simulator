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grandir Wide Bold" panose="020B0604020202020204" charset="0"/>
      <p:regular r:id="rId19"/>
    </p:embeddedFont>
    <p:embeddedFont>
      <p:font typeface="Arimo Bold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Nunito" panose="020F0502020204030204" pitchFamily="2" charset="0"/>
      <p:regular r:id="rId22"/>
    </p:embeddedFont>
    <p:embeddedFont>
      <p:font typeface="Nunito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21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272626" cy="1272626"/>
          </a:xfrm>
          <a:custGeom>
            <a:avLst/>
            <a:gdLst/>
            <a:ahLst/>
            <a:cxnLst/>
            <a:rect l="l" t="t" r="r" b="b"/>
            <a:pathLst>
              <a:path w="1272626" h="1272626">
                <a:moveTo>
                  <a:pt x="0" y="0"/>
                </a:moveTo>
                <a:lnTo>
                  <a:pt x="1272626" y="0"/>
                </a:lnTo>
                <a:lnTo>
                  <a:pt x="1272626" y="1272626"/>
                </a:lnTo>
                <a:lnTo>
                  <a:pt x="0" y="1272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2857705"/>
            <a:ext cx="10208996" cy="33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CRICKET</a:t>
            </a:r>
          </a:p>
          <a:p>
            <a:pPr algn="l">
              <a:lnSpc>
                <a:spcPts val="11791"/>
              </a:lnSpc>
            </a:pPr>
            <a:r>
              <a:rPr lang="en-US" sz="10343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SIMULATOR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2626" y="1795952"/>
            <a:ext cx="2948357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March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189854" y="8702509"/>
            <a:ext cx="6680614" cy="55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IIT Roorkee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2448" y="6677953"/>
            <a:ext cx="5220146" cy="281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4"/>
              </a:lnSpc>
            </a:pPr>
            <a:r>
              <a:rPr lang="en-US" sz="2646" b="1" spc="145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Adi Jain(24114003)</a:t>
            </a:r>
          </a:p>
          <a:p>
            <a:pPr algn="ctr">
              <a:lnSpc>
                <a:spcPts val="4524"/>
              </a:lnSpc>
            </a:pPr>
            <a:r>
              <a:rPr lang="en-US" sz="2646" b="1" spc="145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Ainesh Kumar Das(24114008)</a:t>
            </a:r>
          </a:p>
          <a:p>
            <a:pPr algn="ctr">
              <a:lnSpc>
                <a:spcPts val="4524"/>
              </a:lnSpc>
            </a:pPr>
            <a:r>
              <a:rPr lang="en-US" sz="2646" b="1" spc="145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Atishay Jain(24114018)</a:t>
            </a:r>
          </a:p>
          <a:p>
            <a:pPr algn="ctr">
              <a:lnSpc>
                <a:spcPts val="4524"/>
              </a:lnSpc>
            </a:pPr>
            <a:r>
              <a:rPr lang="en-US" sz="2646" b="1" spc="145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Dakshit Tanay(24114030)</a:t>
            </a:r>
          </a:p>
          <a:p>
            <a:pPr algn="ctr">
              <a:lnSpc>
                <a:spcPts val="4524"/>
              </a:lnSpc>
              <a:spcBef>
                <a:spcPct val="0"/>
              </a:spcBef>
            </a:pPr>
            <a:r>
              <a:rPr lang="en-US" sz="2646" b="1" spc="145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Lakshit Jain(24114055)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75895"/>
            <a:ext cx="10422463" cy="136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CONTENTS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217151"/>
            <a:ext cx="5567160" cy="838151"/>
            <a:chOff x="0" y="0"/>
            <a:chExt cx="1466248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900666"/>
            <a:ext cx="5567160" cy="838151"/>
            <a:chOff x="0" y="0"/>
            <a:chExt cx="1466248" cy="2207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557615"/>
            <a:ext cx="5567160" cy="838151"/>
            <a:chOff x="0" y="0"/>
            <a:chExt cx="1466248" cy="220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76476" y="4386927"/>
            <a:ext cx="5567160" cy="838151"/>
            <a:chOff x="0" y="0"/>
            <a:chExt cx="1466248" cy="2207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6729979"/>
            <a:ext cx="5567160" cy="838151"/>
            <a:chOff x="0" y="0"/>
            <a:chExt cx="1466248" cy="2207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76476" y="5558453"/>
            <a:ext cx="5567160" cy="838151"/>
            <a:chOff x="0" y="0"/>
            <a:chExt cx="1466248" cy="220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76476" y="6729979"/>
            <a:ext cx="5567160" cy="838151"/>
            <a:chOff x="0" y="0"/>
            <a:chExt cx="1466248" cy="2207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76476" y="3215402"/>
            <a:ext cx="5567160" cy="838151"/>
            <a:chOff x="0" y="0"/>
            <a:chExt cx="1466248" cy="2207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76476" y="7901504"/>
            <a:ext cx="5567160" cy="838151"/>
            <a:chOff x="0" y="0"/>
            <a:chExt cx="1466248" cy="22074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85620" y="3323993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01. System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5620" y="7977704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05. Scheduling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5620" y="5664457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03. Thread Design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33396" y="4493769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07. Run-Out Handling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5620" y="6838534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04. Synchronization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33396" y="5665295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08. Output Demo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33396" y="6836821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09. Gantt Chart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33396" y="3322244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06. Critical Section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33396" y="8008346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10. Conclusion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28700" y="4386089"/>
            <a:ext cx="5567160" cy="838151"/>
            <a:chOff x="0" y="0"/>
            <a:chExt cx="1466248" cy="22074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6248" cy="220747"/>
            </a:xfrm>
            <a:custGeom>
              <a:avLst/>
              <a:gdLst/>
              <a:ahLst/>
              <a:cxnLst/>
              <a:rect l="l" t="t" r="r" b="b"/>
              <a:pathLst>
                <a:path w="1466248" h="220747">
                  <a:moveTo>
                    <a:pt x="110374" y="0"/>
                  </a:moveTo>
                  <a:lnTo>
                    <a:pt x="1355874" y="0"/>
                  </a:lnTo>
                  <a:cubicBezTo>
                    <a:pt x="1385147" y="0"/>
                    <a:pt x="1413221" y="11629"/>
                    <a:pt x="1433920" y="32328"/>
                  </a:cubicBezTo>
                  <a:cubicBezTo>
                    <a:pt x="1454619" y="53027"/>
                    <a:pt x="1466248" y="81101"/>
                    <a:pt x="1466248" y="110374"/>
                  </a:cubicBezTo>
                  <a:lnTo>
                    <a:pt x="1466248" y="110374"/>
                  </a:lnTo>
                  <a:cubicBezTo>
                    <a:pt x="1466248" y="139647"/>
                    <a:pt x="1454619" y="167721"/>
                    <a:pt x="1433920" y="188420"/>
                  </a:cubicBezTo>
                  <a:cubicBezTo>
                    <a:pt x="1413221" y="209119"/>
                    <a:pt x="1385147" y="220747"/>
                    <a:pt x="135587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46624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85620" y="4492931"/>
            <a:ext cx="5053319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02.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5708" y="99797"/>
            <a:ext cx="12656583" cy="21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7"/>
              </a:lnSpc>
            </a:pPr>
            <a:r>
              <a:rPr lang="en-US" sz="6164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SYSTEM ARCHITECTURE</a:t>
            </a:r>
          </a:p>
          <a:p>
            <a:pPr algn="l">
              <a:lnSpc>
                <a:spcPts val="8531"/>
              </a:lnSpc>
            </a:pPr>
            <a:endParaRPr lang="en-US" sz="6164" b="1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1929240"/>
          <a:ext cx="15801528" cy="7767320"/>
        </p:xfrm>
        <a:graphic>
          <a:graphicData uri="http://schemas.openxmlformats.org/drawingml/2006/table">
            <a:tbl>
              <a:tblPr/>
              <a:tblGrid>
                <a:gridCol w="3262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0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8515">
                <a:tc>
                  <a:txBody>
                    <a:bodyPr/>
                    <a:lstStyle/>
                    <a:p>
                      <a:pPr algn="ctr">
                        <a:lnSpc>
                          <a:spcPts val="3811"/>
                        </a:lnSpc>
                        <a:defRPr/>
                      </a:pPr>
                      <a:r>
                        <a:rPr lang="en-US" sz="2722" b="1">
                          <a:solidFill>
                            <a:srgbClr val="8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Library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11"/>
                        </a:lnSpc>
                        <a:defRPr/>
                      </a:pPr>
                      <a:r>
                        <a:rPr lang="en-US" sz="2722" b="1">
                          <a:solidFill>
                            <a:srgbClr val="8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Header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11"/>
                        </a:lnSpc>
                        <a:defRPr/>
                      </a:pPr>
                      <a:r>
                        <a:rPr lang="en-US" sz="2722" b="1">
                          <a:solidFill>
                            <a:srgbClr val="8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623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POSIX Threads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&lt;pthread.h&gt;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Creation of Batsman, Bowler, Fielder, Umpire threads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9645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GCD</a:t>
                      </a:r>
                      <a:endParaRPr lang="en-US" sz="1100"/>
                    </a:p>
                    <a:p>
                      <a:pPr algn="l">
                        <a:lnSpc>
                          <a:spcPts val="3388"/>
                        </a:lnSpc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Semaphores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&lt;dispatch/dispatch . h&gt;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Crease capacity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623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UNIX Standard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&lt;unistd.h&gt;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usleep() for thread timing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623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File I/O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&lt;fstream&gt;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Exporting match report to . txt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7505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 Standard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&lt;stdio.h&gt;, &lt;stdlib.h&gt;,</a:t>
                      </a:r>
                      <a:endParaRPr lang="en-US" sz="1100"/>
                    </a:p>
                    <a:p>
                      <a:pPr algn="ctr">
                        <a:lnSpc>
                          <a:spcPts val="3528"/>
                        </a:lnSpc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&lt;string.h&gt;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I/O, Memory, String 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785"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Time (C++)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5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&lt;chrono&gt;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420" b="1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Gantt chart microsecond timestamps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591323" y="1093008"/>
            <a:ext cx="4642094" cy="64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0"/>
              </a:lnSpc>
              <a:spcBef>
                <a:spcPct val="0"/>
              </a:spcBef>
            </a:pPr>
            <a:r>
              <a:rPr lang="en-US" sz="3222" b="1" spc="177">
                <a:solidFill>
                  <a:srgbClr val="004AAD"/>
                </a:solidFill>
                <a:latin typeface="Nunito Bold"/>
                <a:ea typeface="Nunito Bold"/>
                <a:cs typeface="Nunito Bold"/>
                <a:sym typeface="Nunito Bold"/>
              </a:rPr>
              <a:t>Libraries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5708" y="99797"/>
            <a:ext cx="12656583" cy="21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7"/>
              </a:lnSpc>
            </a:pPr>
            <a:r>
              <a:rPr lang="en-US" sz="616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SYSTEM ARCHITECTURE</a:t>
            </a:r>
          </a:p>
          <a:p>
            <a:pPr algn="l">
              <a:lnSpc>
                <a:spcPts val="8531"/>
              </a:lnSpc>
            </a:pPr>
            <a:endParaRPr lang="en-US" sz="6164" b="1">
              <a:solidFill>
                <a:srgbClr val="0A2E44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82568" y="2005071"/>
            <a:ext cx="16976732" cy="6137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header.hpp → All structs, enums, extern declarations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globals.cpp → Single source of truth for all shared variables (score, wickets, state, semaphores)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main.cpp → Entry point, toss logic, innings starting, thread creation &amp; joining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umpire.cpp → Umpire thread + next_bowler() scheduler, drives the state mutex, logs every ball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batsman.cpp → Striker &amp; Non-striker thread logic, crease semaphore acquisition &amp; release 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bowler.cpp → Bowler thread, delivers ball 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fielder.cpp → Fielder thread, wakes on SHOT signal, Handles catches, run-outs, boundaries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utility.cpp → my_rand_r(), update_balls(),  over transitions, bowler rotation, probability engine bowlerprob() / batprob() / fldprob() 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gantt.cpp → gantt_log() — timestamped resource logger </a:t>
            </a:r>
          </a:p>
          <a:p>
            <a:pPr marL="561086" lvl="1" indent="-280543" algn="l">
              <a:lnSpc>
                <a:spcPts val="4443"/>
              </a:lnSpc>
              <a:buFont typeface="Arial"/>
              <a:buChar char="•"/>
            </a:pPr>
            <a:r>
              <a:rPr lang="en-US" sz="2598" spc="142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print.cpp → CricketTable renderer, scorecard printer, match report exporter to .txt file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5708" y="99797"/>
            <a:ext cx="12656583" cy="107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7"/>
              </a:lnSpc>
            </a:pPr>
            <a:r>
              <a:rPr lang="en-US" sz="616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ASSUMPTIONS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445158"/>
            <a:ext cx="17259300" cy="684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6 Bowlers will be used at max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No Super Over/DLS Method - Innings ends at 10 wickets or 20 over or target chased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Considering death over to be 20th over only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No fielding positions modeled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Middle order batsman is 6th batsman only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All probabilities are hand-tuned - Based on real T20 averages, not player-specific stats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Pressure increases aggression - compute_pressure() uses required run rate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Gantt chart is microsecond-based - std::chrono::high_resolution_clock in gantt.cpp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The bowler will never throw no ball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There is a possibility of runout on every run taken</a:t>
            </a:r>
          </a:p>
          <a:p>
            <a:pPr marL="697507" lvl="1" indent="-348753" algn="l">
              <a:lnSpc>
                <a:spcPts val="4522"/>
              </a:lnSpc>
              <a:spcBef>
                <a:spcPct val="0"/>
              </a:spcBef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Next batsman is decided randomly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83709" y="2607452"/>
            <a:ext cx="13510132" cy="684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Bowler Thread: 1 active thread. 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Wakes on state=1.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Sleeps on Bowler condition variable locked on state mutex.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Batsmen Thread: 11 threads (one per player). 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Wakes on state=2.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Sleeps on Batsman condition variable locked on state mutex.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Fielder Thread: 10 thread (one per fielder). 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Wakes on state=3.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Sleeps on Fielder condition variable locked on state mutex.</a:t>
            </a:r>
          </a:p>
          <a:p>
            <a:pPr marL="697507" lvl="1" indent="-348753" algn="l">
              <a:lnSpc>
                <a:spcPts val="4522"/>
              </a:lnSpc>
              <a:buAutoNum type="arabi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Umpire Thread: 1 thread. </a:t>
            </a:r>
          </a:p>
          <a:p>
            <a:pPr marL="1395013" lvl="2" indent="-465004" algn="l">
              <a:lnSpc>
                <a:spcPts val="4522"/>
              </a:lnSpc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Wakes on state=0.</a:t>
            </a:r>
          </a:p>
          <a:p>
            <a:pPr marL="1395013" lvl="2" indent="-465004" algn="l">
              <a:lnSpc>
                <a:spcPts val="4522"/>
              </a:lnSpc>
              <a:spcBef>
                <a:spcPct val="0"/>
              </a:spcBef>
              <a:buAutoNum type="alphaLcPeriod"/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Sleeps on Umpire condition variable locked on state mutex.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5708" y="71222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THREAD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3709" y="1717961"/>
            <a:ext cx="4926881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sz="3230" b="1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There are 4 thread types: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77469" y="83293"/>
            <a:ext cx="12814703" cy="10203707"/>
          </a:xfrm>
          <a:custGeom>
            <a:avLst/>
            <a:gdLst/>
            <a:ahLst/>
            <a:cxnLst/>
            <a:rect l="l" t="t" r="r" b="b"/>
            <a:pathLst>
              <a:path w="12814703" h="10203707">
                <a:moveTo>
                  <a:pt x="0" y="0"/>
                </a:moveTo>
                <a:lnTo>
                  <a:pt x="12814703" y="0"/>
                </a:lnTo>
                <a:lnTo>
                  <a:pt x="12814703" y="10203707"/>
                </a:lnTo>
                <a:lnTo>
                  <a:pt x="0" y="1020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5708" y="71222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SYNCHRONIZATION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3685" y="1268354"/>
            <a:ext cx="17055615" cy="938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2422" b="1" spc="133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Mutex locks: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state_mx - master lock, held whenever any thread reads or modifies state or shared game data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rag_mutex - protects the RAG vector from concurrent edge insertions/deletions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gantt_mx - Serializes Gantt log writes so entries are never interleaved</a:t>
            </a:r>
          </a:p>
          <a:p>
            <a:pPr algn="l">
              <a:lnSpc>
                <a:spcPts val="4142"/>
              </a:lnSpc>
            </a:pPr>
            <a:endParaRPr lang="en-US" sz="2422" spc="133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142"/>
              </a:lnSpc>
            </a:pPr>
            <a:r>
              <a:rPr lang="en-US" sz="2422" b="1" spc="133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Condition Variables (CV’s):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Four dedicated CVs: umpire_cv, bowler_cv, batsman_cv, fielder_cv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Each thread sleeps on its own CV — no unnecessary wakeups to unrelated threads</a:t>
            </a:r>
          </a:p>
          <a:p>
            <a:pPr marL="523036" lvl="1" indent="-261518" algn="l">
              <a:lnSpc>
                <a:spcPts val="4142"/>
              </a:lnSpc>
              <a:buAutoNum type="arabicPeriod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Umpire uses pthread_cond_signal (one target); batsman uses pthread_cond_broadcast (both striker + non-striker wake together)</a:t>
            </a:r>
          </a:p>
          <a:p>
            <a:pPr algn="l">
              <a:lnSpc>
                <a:spcPts val="4142"/>
              </a:lnSpc>
            </a:pPr>
            <a:endParaRPr lang="en-US" sz="2422" spc="133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142"/>
              </a:lnSpc>
            </a:pPr>
            <a:r>
              <a:rPr lang="en-US" sz="2422" b="1" spc="133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Crease Semaphore system:</a:t>
            </a:r>
          </a:p>
          <a:p>
            <a:pPr marL="523036" lvl="1" indent="-261518" algn="l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crease_sm(2)- limits 2 batsmen on the pitch at any time. All 11 threads try to acquire it, only 2 succeed.</a:t>
            </a:r>
          </a:p>
          <a:p>
            <a:pPr marL="523036" lvl="1" indent="-261518" algn="l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crease0_sm(1)- the striker crease. First batsman who grabs it becomes the striker.</a:t>
            </a:r>
          </a:p>
          <a:p>
            <a:pPr marL="523036" lvl="1" indent="-261518" algn="l">
              <a:lnSpc>
                <a:spcPts val="4142"/>
              </a:lnSpc>
              <a:buFont typeface="Arial"/>
              <a:buChar char="•"/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crease1_sm(1)-the non-striker crease. Other batsman becomes the non-striker.</a:t>
            </a:r>
          </a:p>
          <a:p>
            <a:pPr algn="l">
              <a:lnSpc>
                <a:spcPts val="4142"/>
              </a:lnSpc>
            </a:pP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On dismissal: the dismissed batsman signals their crease semaphore back, allowing the next</a:t>
            </a:r>
            <a:r>
              <a:rPr lang="en-US" sz="2422" b="1" spc="133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22" spc="133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queued batsman to take it.</a:t>
            </a:r>
          </a:p>
          <a:p>
            <a:pPr algn="l">
              <a:lnSpc>
                <a:spcPts val="4142"/>
              </a:lnSpc>
              <a:spcBef>
                <a:spcPct val="0"/>
              </a:spcBef>
            </a:pPr>
            <a:endParaRPr lang="en-US" sz="2422" spc="133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56977" y="287259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SCHEDULING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5775" y="1809893"/>
            <a:ext cx="12566334" cy="54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5"/>
              </a:lnSpc>
              <a:spcBef>
                <a:spcPct val="0"/>
              </a:spcBef>
            </a:pPr>
            <a:r>
              <a:rPr lang="en-US" sz="2722" spc="14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The Umpire thread acts as the master scheduler for each ball.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5775" y="2752319"/>
            <a:ext cx="16643993" cy="68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The Central Scheduler: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The Umpire thread acts as the CPU scheduler, controlling the execution flow and state transitions for Bowlers, Batsmen, and Fielders.</a:t>
            </a:r>
          </a:p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Round-Robin (Normal Overs):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Employs a sequential rotation algorithm for bowlers, strictly enforcing a 4-over maximum resource quota.</a:t>
            </a:r>
          </a:p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Priority Preemption (Death Over)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: At the 20th over, normal rotation is preempted. The Umpire dynamically assigns the over to the available bowler with the highest priority/specialist rating.</a:t>
            </a:r>
          </a:p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Cooperative Thread Suspension: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Instead of wasting CPU cycles (busy-waiting), the scheduler uses condition variables (e.g., pthread_cond_broadcast) to put non-active threads to sleep until it is their turn to execute.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  <a:endParaRPr lang="en-US" sz="2922" spc="160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02717" y="50185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CRITICAL SECTION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4395" y="1462424"/>
            <a:ext cx="15985245" cy="11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1"/>
              </a:lnSpc>
              <a:spcBef>
                <a:spcPct val="0"/>
              </a:spcBef>
            </a:pPr>
            <a:r>
              <a:rPr lang="en-US" sz="2720" spc="14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Mutex locks enforce critical sections to prevent race conditions when multiple threads modify the shared match state simultaneously.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395" y="2829138"/>
            <a:ext cx="15985245" cy="497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Game State Protection (state_mx):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A primary mutex secures the global match variables (score, wickets, current state) against simultaneous access by different player threads.</a:t>
            </a:r>
          </a:p>
          <a:p>
            <a:pPr marL="630983" lvl="1" indent="-315491" algn="l">
              <a:lnSpc>
                <a:spcPts val="4997"/>
              </a:lnSpc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Deadlock Graph Security (rag_mutex):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Protects the Resource Allocation Graph (RAG) during run-out simulations, utilizing a clever "snapshot" technique to prevent recursive deadlocks.</a:t>
            </a:r>
          </a:p>
          <a:p>
            <a:pPr marL="630983" lvl="1" indent="-315491" algn="l">
              <a:lnSpc>
                <a:spcPts val="4997"/>
              </a:lnSpc>
              <a:spcBef>
                <a:spcPct val="0"/>
              </a:spcBef>
              <a:buAutoNum type="arabicPeriod"/>
            </a:pPr>
            <a:r>
              <a:rPr lang="en-US" sz="2922" b="1" spc="160">
                <a:solidFill>
                  <a:srgbClr val="0A2E44"/>
                </a:solidFill>
                <a:latin typeface="Nunito Bold"/>
                <a:ea typeface="Nunito Bold"/>
                <a:cs typeface="Nunito Bold"/>
                <a:sym typeface="Nunito Bold"/>
              </a:rPr>
              <a:t>Thread-Safe Logging (gantt_mx):</a:t>
            </a:r>
            <a:r>
              <a:rPr lang="en-US" sz="2922" spc="160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 Ensures safe concurrent writes to the shared event log array, maintaining an accurate chronological sequence of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5708" y="96515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RUN-OUT HANDLING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8065" y="1738563"/>
            <a:ext cx="14964164" cy="712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91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Run-out is triggered on every SINGLE, DOUBLE, or TRIPLE (do_runout = true). It is used to demonstrate a deadlock scenario using a Resource Allocation Graph (RAG).</a:t>
            </a:r>
          </a:p>
          <a:p>
            <a:pPr algn="l">
              <a:lnSpc>
                <a:spcPts val="3328"/>
              </a:lnSpc>
            </a:pPr>
            <a:endParaRPr lang="en-US" sz="2919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328"/>
              </a:lnSpc>
            </a:pPr>
            <a:r>
              <a:rPr lang="en-US" sz="291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Trigger Fielder: sets runout_initiated = true, resets all flags (runout_flag, striker_running_done, non_striker_running_done), sets state = 5 and broadcasts batsman_cv to wake both batsmen simultaneously.</a:t>
            </a:r>
          </a:p>
          <a:p>
            <a:pPr algn="l">
              <a:lnSpc>
                <a:spcPts val="3328"/>
              </a:lnSpc>
            </a:pPr>
            <a:endParaRPr lang="en-US" sz="2919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328"/>
              </a:lnSpc>
            </a:pPr>
            <a:r>
              <a:rPr lang="en-US" sz="291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Deadlock Simulation: Both batsmen run do_running_deadlock_sim() concurrently — striker requests sem_A then sem_B, non-striker requests sem_B then sem_A. This creates a circular wait. Meanwhile the fielder spin-waits outside state_mx, polling both _done flags with usleep(10) between checks.</a:t>
            </a:r>
          </a:p>
          <a:p>
            <a:pPr algn="l">
              <a:lnSpc>
                <a:spcPts val="3328"/>
              </a:lnSpc>
            </a:pPr>
            <a:endParaRPr lang="en-US" sz="2919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328"/>
              </a:lnSpc>
            </a:pPr>
            <a:r>
              <a:rPr lang="en-US" sz="2919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Deadlock Detection: The fielder calls is_deadlocked() inside its spin-wait loop. This function takes a snapshot of the RAG under rag_mutex, releases the lock, then runs DFS cycle detection on the snapshot. On detecting a cycle it sets runout_flag = true, forcibly releases the resources of any batsman and signals both semaphores back.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  <a:endParaRPr lang="en-US" sz="2919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162024"/>
            <a:ext cx="8337445" cy="5987142"/>
          </a:xfrm>
          <a:custGeom>
            <a:avLst/>
            <a:gdLst/>
            <a:ahLst/>
            <a:cxnLst/>
            <a:rect l="l" t="t" r="r" b="b"/>
            <a:pathLst>
              <a:path w="8337445" h="5987142">
                <a:moveTo>
                  <a:pt x="0" y="0"/>
                </a:moveTo>
                <a:lnTo>
                  <a:pt x="8337445" y="0"/>
                </a:lnTo>
                <a:lnTo>
                  <a:pt x="8337445" y="5987142"/>
                </a:lnTo>
                <a:lnTo>
                  <a:pt x="0" y="598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63" r="-57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9293440" y="1162024"/>
            <a:ext cx="7956335" cy="5987142"/>
          </a:xfrm>
          <a:custGeom>
            <a:avLst/>
            <a:gdLst/>
            <a:ahLst/>
            <a:cxnLst/>
            <a:rect l="l" t="t" r="r" b="b"/>
            <a:pathLst>
              <a:path w="7956335" h="5987142">
                <a:moveTo>
                  <a:pt x="0" y="0"/>
                </a:moveTo>
                <a:lnTo>
                  <a:pt x="7956335" y="0"/>
                </a:lnTo>
                <a:lnTo>
                  <a:pt x="7956335" y="5987142"/>
                </a:lnTo>
                <a:lnTo>
                  <a:pt x="0" y="5987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608654" y="7409531"/>
            <a:ext cx="3120135" cy="79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7"/>
              </a:lnSpc>
              <a:spcBef>
                <a:spcPct val="0"/>
              </a:spcBef>
            </a:pPr>
            <a:r>
              <a:rPr lang="en-US" sz="3922" b="1" spc="2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Deadlock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6995" y="7409531"/>
            <a:ext cx="4209223" cy="79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7"/>
              </a:lnSpc>
              <a:spcBef>
                <a:spcPct val="0"/>
              </a:spcBef>
            </a:pPr>
            <a:r>
              <a:rPr lang="en-US" sz="3922" b="1" spc="215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No Deadlock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9668" y="1365872"/>
            <a:ext cx="6134297" cy="4869098"/>
          </a:xfrm>
          <a:custGeom>
            <a:avLst/>
            <a:gdLst/>
            <a:ahLst/>
            <a:cxnLst/>
            <a:rect l="l" t="t" r="r" b="b"/>
            <a:pathLst>
              <a:path w="6134297" h="4869098">
                <a:moveTo>
                  <a:pt x="0" y="0"/>
                </a:moveTo>
                <a:lnTo>
                  <a:pt x="6134297" y="0"/>
                </a:lnTo>
                <a:lnTo>
                  <a:pt x="6134297" y="4869099"/>
                </a:lnTo>
                <a:lnTo>
                  <a:pt x="0" y="4869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379668" y="6464340"/>
            <a:ext cx="6134297" cy="3822660"/>
          </a:xfrm>
          <a:custGeom>
            <a:avLst/>
            <a:gdLst/>
            <a:ahLst/>
            <a:cxnLst/>
            <a:rect l="l" t="t" r="r" b="b"/>
            <a:pathLst>
              <a:path w="6134297" h="3822660">
                <a:moveTo>
                  <a:pt x="0" y="0"/>
                </a:moveTo>
                <a:lnTo>
                  <a:pt x="6134297" y="0"/>
                </a:lnTo>
                <a:lnTo>
                  <a:pt x="6134297" y="3822660"/>
                </a:lnTo>
                <a:lnTo>
                  <a:pt x="0" y="3822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43" r="-27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6726822" y="1365872"/>
            <a:ext cx="10319621" cy="2399312"/>
          </a:xfrm>
          <a:custGeom>
            <a:avLst/>
            <a:gdLst/>
            <a:ahLst/>
            <a:cxnLst/>
            <a:rect l="l" t="t" r="r" b="b"/>
            <a:pathLst>
              <a:path w="10319621" h="2399312">
                <a:moveTo>
                  <a:pt x="0" y="0"/>
                </a:moveTo>
                <a:lnTo>
                  <a:pt x="10319621" y="0"/>
                </a:lnTo>
                <a:lnTo>
                  <a:pt x="10319621" y="2399312"/>
                </a:lnTo>
                <a:lnTo>
                  <a:pt x="0" y="2399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3446816" y="54441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OUTPUT DEMO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91912" y="4064248"/>
            <a:ext cx="10354531" cy="61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The simulator produces three outputs:</a:t>
            </a:r>
          </a:p>
          <a:p>
            <a:pPr algn="l">
              <a:lnSpc>
                <a:spcPts val="3287"/>
              </a:lnSpc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Console output — printed live during the match with ANSI color support:</a:t>
            </a:r>
          </a:p>
          <a:p>
            <a:pPr marL="415088" lvl="1" indent="-207544" algn="l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Batting scorecard (name, runs, balls, strike rate)</a:t>
            </a:r>
          </a:p>
          <a:p>
            <a:pPr marL="415088" lvl="1" indent="-207544" algn="l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Bowling scorecard (name, overs, runs, wickets, economy)</a:t>
            </a:r>
          </a:p>
          <a:p>
            <a:pPr marL="415088" lvl="1" indent="-207544" algn="l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Ball-by-ball log grouped by over, showing bowler, striker, non-striker, result and score for every delivery</a:t>
            </a:r>
          </a:p>
          <a:p>
            <a:pPr marL="415088" lvl="1" indent="-207544" algn="l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Gantt chart table</a:t>
            </a:r>
          </a:p>
          <a:p>
            <a:pPr marL="415088" lvl="1" indent="-207544" algn="l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Final match result</a:t>
            </a:r>
          </a:p>
          <a:p>
            <a:pPr algn="l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Match report file — same content exported to a timestamped .txt file (match_report_YYYY-MM-DD_HH-MM.txt) in append mode so both innings are written to the same file.</a:t>
            </a:r>
          </a:p>
          <a:p>
            <a:pPr algn="l">
              <a:lnSpc>
                <a:spcPts val="3287"/>
              </a:lnSpc>
              <a:spcBef>
                <a:spcPct val="0"/>
              </a:spcBef>
            </a:pPr>
            <a:r>
              <a:rPr lang="en-US" sz="1922" spc="105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Toss result — printed at the start showing who won the toss and which team bats first, decided randomly using srand seeded from the system clock and PID.</a:t>
            </a:r>
          </a:p>
          <a:p>
            <a:pPr algn="l">
              <a:lnSpc>
                <a:spcPts val="3287"/>
              </a:lnSpc>
              <a:spcBef>
                <a:spcPct val="0"/>
              </a:spcBef>
            </a:pPr>
            <a:endParaRPr lang="en-US" sz="1922" spc="105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287"/>
              </a:lnSpc>
              <a:spcBef>
                <a:spcPct val="0"/>
              </a:spcBef>
            </a:pPr>
            <a:endParaRPr lang="en-US" sz="1922" spc="105">
              <a:solidFill>
                <a:srgbClr val="0A2E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037006" y="1871364"/>
            <a:ext cx="8466095" cy="6557054"/>
          </a:xfrm>
          <a:custGeom>
            <a:avLst/>
            <a:gdLst/>
            <a:ahLst/>
            <a:cxnLst/>
            <a:rect l="l" t="t" r="r" b="b"/>
            <a:pathLst>
              <a:path w="8466095" h="6557054">
                <a:moveTo>
                  <a:pt x="0" y="0"/>
                </a:moveTo>
                <a:lnTo>
                  <a:pt x="8466095" y="0"/>
                </a:lnTo>
                <a:lnTo>
                  <a:pt x="8466095" y="6557055"/>
                </a:lnTo>
                <a:lnTo>
                  <a:pt x="0" y="6557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55" t="-1133" r="-48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657186" y="75478"/>
            <a:ext cx="12656583" cy="131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1"/>
              </a:lnSpc>
            </a:pPr>
            <a:r>
              <a:rPr lang="en-US" sz="7484" b="1">
                <a:solidFill>
                  <a:srgbClr val="0A2E4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GANTT CHART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785" y="2035177"/>
            <a:ext cx="5644802" cy="639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2322" spc="127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The Gantt chart is a real-time thread activity log. Each row represents one thread becoming active, recording:</a:t>
            </a:r>
          </a:p>
          <a:p>
            <a:pPr marL="1002892" lvl="2" indent="-334297" algn="l">
              <a:lnSpc>
                <a:spcPts val="3971"/>
              </a:lnSpc>
              <a:spcBef>
                <a:spcPct val="0"/>
              </a:spcBef>
              <a:buAutoNum type="alphaLcPeriod"/>
            </a:pPr>
            <a:r>
              <a:rPr lang="en-US" sz="2322" spc="127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Timestamp in microseconds from innings start</a:t>
            </a:r>
          </a:p>
          <a:p>
            <a:pPr marL="1002892" lvl="2" indent="-334297" algn="l">
              <a:lnSpc>
                <a:spcPts val="3971"/>
              </a:lnSpc>
              <a:spcBef>
                <a:spcPct val="0"/>
              </a:spcBef>
              <a:buAutoNum type="alphaLcPeriod"/>
            </a:pPr>
            <a:r>
              <a:rPr lang="en-US" sz="2322" spc="127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Thread name and event type</a:t>
            </a:r>
          </a:p>
          <a:p>
            <a:pPr marL="1002892" lvl="2" indent="-334297" algn="l">
              <a:lnSpc>
                <a:spcPts val="3971"/>
              </a:lnSpc>
              <a:spcBef>
                <a:spcPct val="0"/>
              </a:spcBef>
              <a:buAutoNum type="alphaLcPeriod"/>
            </a:pPr>
            <a:r>
              <a:rPr lang="en-US" sz="2322" spc="127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Score and wickets at that moment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2322" spc="127">
                <a:solidFill>
                  <a:srgbClr val="0A2E44"/>
                </a:solidFill>
                <a:latin typeface="Nunito"/>
                <a:ea typeface="Nunito"/>
                <a:cs typeface="Nunito"/>
                <a:sym typeface="Nunito"/>
              </a:rPr>
              <a:t>gantt_log() is called by every thread the moment it acquires state_mx and begins work, giving a precise picture of thread execution order across the entire match.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87573" y="-92287"/>
            <a:ext cx="8891934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6313" y="2365845"/>
            <a:ext cx="16230622" cy="68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983" lvl="1" indent="-315491" algn="l">
              <a:lnSpc>
                <a:spcPts val="4997"/>
              </a:lnSpc>
              <a:spcBef>
                <a:spcPct val="0"/>
              </a:spcBef>
              <a:buAutoNum type="arabicPeriod"/>
            </a:pPr>
            <a:r>
              <a:rPr lang="en-US" sz="2922" b="1" spc="16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Concurrency Models Reality:</a:t>
            </a:r>
            <a:r>
              <a:rPr lang="en-US" sz="2922" spc="16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Multithreading proved to be the perfect paradigm for a sports simulator. Having independent threads for Batsmen, Bowlers, and Fielders continuously running in parallel accurately mirrors the real-time, simultaneous dynamics of a live cricket match.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  <a:endParaRPr lang="en-US" sz="2922" spc="16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0983" lvl="1" indent="-315491" algn="l">
              <a:lnSpc>
                <a:spcPts val="4997"/>
              </a:lnSpc>
              <a:spcBef>
                <a:spcPct val="0"/>
              </a:spcBef>
              <a:buAutoNum type="arabicPeriod"/>
            </a:pPr>
            <a:r>
              <a:rPr lang="en-US" sz="2922" b="1" spc="16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Deadlocks as a Feature:</a:t>
            </a:r>
            <a:r>
              <a:rPr lang="en-US" sz="2922" spc="16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In traditional OS design, deadlocks are fatal errors. In this simulator, they are a game mechanic. By repurposing the Resource Allocation Graph (RAG) and cycle-detection algorithms, we creatively mapped thread deadlocks to "Run-Outs" (two players fighting for the same crease resource), turning a system failure into a realistic match outcome.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  <a:endParaRPr lang="en-US" sz="2922" spc="16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87573" y="-92287"/>
            <a:ext cx="8891934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6313" y="2365845"/>
            <a:ext cx="16230622" cy="62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983" lvl="1" indent="-315491" algn="l">
              <a:lnSpc>
                <a:spcPts val="4997"/>
              </a:lnSpc>
              <a:spcBef>
                <a:spcPct val="0"/>
              </a:spcBef>
              <a:buAutoNum type="arabicPeriod"/>
            </a:pPr>
            <a:r>
              <a:rPr lang="en-US" sz="2922" b="1" spc="16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Order Out of Chaos: </a:t>
            </a:r>
            <a:r>
              <a:rPr lang="en-US" sz="2922" spc="16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Despite 14+ independent threads constantly preempting each other and competing for shared memory, the system maintains absolute data integrity. Strict synchronization ensures the scorecard, run counts, and Gantt logs remain 100% accurate without a single race condition.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  <a:endParaRPr lang="en-US" sz="2922" spc="16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0983" lvl="1" indent="-315491" algn="l">
              <a:lnSpc>
                <a:spcPts val="4997"/>
              </a:lnSpc>
              <a:spcBef>
                <a:spcPct val="0"/>
              </a:spcBef>
              <a:buAutoNum type="arabicPeriod"/>
            </a:pPr>
            <a:r>
              <a:rPr lang="en-US" sz="2922" b="1" spc="16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Final Takeaway: </a:t>
            </a:r>
            <a:r>
              <a:rPr lang="en-US" sz="2922" spc="16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This project demonstrates that low-level operating system mechanisms (mutexes, condition variables, and schedulers) aren't just for managing CPUs—they are powerful tools for architecting complex, highly synchronized, and scalable simulations of the real world.</a:t>
            </a:r>
          </a:p>
          <a:p>
            <a:pPr algn="l">
              <a:lnSpc>
                <a:spcPts val="4997"/>
              </a:lnSpc>
              <a:spcBef>
                <a:spcPct val="0"/>
              </a:spcBef>
            </a:pPr>
            <a:endParaRPr lang="en-US" sz="2922" spc="16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69007" y="4118253"/>
            <a:ext cx="10208996" cy="181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79539" y="8945417"/>
            <a:ext cx="6680614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 Group-12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272626" cy="1272626"/>
          </a:xfrm>
          <a:custGeom>
            <a:avLst/>
            <a:gdLst/>
            <a:ahLst/>
            <a:cxnLst/>
            <a:rect l="l" t="t" r="r" b="b"/>
            <a:pathLst>
              <a:path w="1272626" h="1272626">
                <a:moveTo>
                  <a:pt x="0" y="0"/>
                </a:moveTo>
                <a:lnTo>
                  <a:pt x="1272626" y="0"/>
                </a:lnTo>
                <a:lnTo>
                  <a:pt x="1272626" y="1272626"/>
                </a:lnTo>
                <a:lnTo>
                  <a:pt x="0" y="1272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Microsoft Office PowerPoint</Application>
  <PresentationFormat>Custom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Nunito</vt:lpstr>
      <vt:lpstr>Calibri</vt:lpstr>
      <vt:lpstr>Canva Sans Bold</vt:lpstr>
      <vt:lpstr>Nunito Bold</vt:lpstr>
      <vt:lpstr>Arial</vt:lpstr>
      <vt:lpstr>Arimo Bold</vt:lpstr>
      <vt:lpstr>Agrandir Wide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Simple Project Proposal Presentation</dc:title>
  <cp:lastModifiedBy>Atishay Jain</cp:lastModifiedBy>
  <cp:revision>2</cp:revision>
  <dcterms:created xsi:type="dcterms:W3CDTF">2006-08-16T00:00:00Z</dcterms:created>
  <dcterms:modified xsi:type="dcterms:W3CDTF">2026-03-29T16:53:43Z</dcterms:modified>
  <dc:identifier>DAHFREbwFgg</dc:identifier>
</cp:coreProperties>
</file>